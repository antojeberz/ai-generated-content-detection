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94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14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4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5212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·  DATA ANALYSIS WITH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Content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Pattern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358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Human vs. ChatGPT-Written Answers Using the HC3 Dataset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371600"/>
            <a:ext cx="777240" cy="77724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ntoj\AppData\Local\Temp\claude\a--AIML-Course-Project-1\3eced48b-7c27-4c62-addc-2088314a7093\scratchpad\pptx_build\icons\hu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458" y="1558138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46920" y="2514600"/>
            <a:ext cx="777240" cy="77724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C:\Users\antoj\AppData\Local\Temp\claude\a--AIML-Course-Project-1\3eced48b-7c27-4c62-addc-2088314a7093\scratchpad\pptx_build\icons\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58" y="2701138"/>
            <a:ext cx="404165" cy="40416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035540" y="2148840"/>
            <a:ext cx="0" cy="1143000"/>
          </a:xfrm>
          <a:prstGeom prst="line">
            <a:avLst/>
          </a:prstGeom>
          <a:noFill/>
          <a:ln w="19050">
            <a:solidFill>
              <a:srgbClr val="6B7A99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9372600" y="2176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372600" y="3319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10607040" cy="566928"/>
          </a:xfrm>
          <a:prstGeom prst="roundRect">
            <a:avLst>
              <a:gd name="adj" fmla="val 16129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777240" y="41605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— Artificial Intelligence &amp; Digital Content Moderation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2446020" cy="868680"/>
          </a:xfrm>
          <a:prstGeom prst="roundRect">
            <a:avLst>
              <a:gd name="adj" fmla="val 10526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713232" y="5111496"/>
            <a:ext cx="2116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5367528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Anto Jeberz J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268980" y="4983480"/>
            <a:ext cx="2446020" cy="868680"/>
          </a:xfrm>
          <a:prstGeom prst="roundRect">
            <a:avLst>
              <a:gd name="adj" fmla="val 10526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3433572" y="5111496"/>
            <a:ext cx="2116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3433572" y="5367528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AF05310496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989320" y="4983480"/>
            <a:ext cx="2446020" cy="868680"/>
          </a:xfrm>
          <a:prstGeom prst="roundRect">
            <a:avLst>
              <a:gd name="adj" fmla="val 10526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6153912" y="5111496"/>
            <a:ext cx="2116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6153912" y="5367528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AIML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8709660" y="4983480"/>
            <a:ext cx="2446020" cy="868680"/>
          </a:xfrm>
          <a:prstGeom prst="roundRect">
            <a:avLst>
              <a:gd name="adj" fmla="val 10526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8874252" y="5111496"/>
            <a:ext cx="2116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CODE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874252" y="5367528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ANP-D7444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ntoj\AppData\Local\Temp\claude\a--AIML-Course-Project-1\3eced48b-7c27-4c62-addc-2088314a7093\scratchpad\pptx_build\icons\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14637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344168"/>
            <a:ext cx="6099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Industry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Artificial Intelligence — the field of Digital Content Integrity &amp; Moderation, which builds tools to tell human-written content apart from AI-generated content.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43200"/>
            <a:ext cx="662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language models such as ChatGPT can now produce answers that read as fluently as human writing. This has created a fast-growing industry of detection tools and platform safeguards used across education, publishing, social media and customer support — all of which rely on identifying measurable differences between human and AI text.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ntoj\AppData\Local\Temp\claude\a--AIML-Course-Project-1\3eced48b-7c27-4c62-addc-2088314a7093\scratchpad\pptx_build\icons\ins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420697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78992" y="4087368"/>
            <a:ext cx="6099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Analysis Matters Here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663440"/>
            <a:ext cx="6629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method — simple heuristics or trained classifiers — depends on first finding real, measurable signals in text.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quantifies which linguistic features actually separate human and AI writing before any model is built.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exposes a dataset's limits (era of model, source skew) so conclusions are not over-trusted.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543800" y="1371600"/>
            <a:ext cx="4069080" cy="4983480"/>
          </a:xfrm>
          <a:prstGeom prst="roundRect">
            <a:avLst>
              <a:gd name="adj" fmla="val 2247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121140" y="1783080"/>
            <a:ext cx="914400" cy="9144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ntoj\AppData\Local\Temp\claude\a--AIML-Course-Project-1\3eced48b-7c27-4c62-addc-2088314a7093\scratchpad\pptx_build\icons\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596" y="200253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1812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Matters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818120" y="3383280"/>
            <a:ext cx="35204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7836408" y="338328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Academic Integrity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818120" y="4069080"/>
            <a:ext cx="35204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7836408" y="406908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Journalism &amp; Publishing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818120" y="4754880"/>
            <a:ext cx="35204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7836408" y="475488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&amp; Moderation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818120" y="5440680"/>
            <a:ext cx="35204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7836408" y="544068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&amp; Content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84778" cy="4983480"/>
          </a:xfrm>
          <a:prstGeom prst="roundRect">
            <a:avLst>
              <a:gd name="adj" fmla="val 2624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C:\Users\antoj\AppData\Local\Temp\claude\a--AIML-Course-Project-1\3eced48b-7c27-4c62-addc-2088314a7093\scratchpad\pptx_build\icons\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342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4231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293613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ChatGPT and similar models now able to generate fluent, human-like answers at scale, it is increasingly hard to tell whether a piece of text was written by a person or a machine.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53458" y="1371600"/>
            <a:ext cx="3484778" cy="4983480"/>
          </a:xfrm>
          <a:prstGeom prst="roundRect">
            <a:avLst>
              <a:gd name="adj" fmla="val 2624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27778" y="169164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C:\Users\antoj\AppData\Local\Temp\claude\a--AIML-Course-Project-1\3eced48b-7c27-4c62-addc-2088314a7093\scratchpad\pptx_build\icons\ins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425" y="183428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7778" y="24231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27778" y="2880360"/>
            <a:ext cx="293613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AI text threatens academic integrity, lets misinformation spread under a false air of authenticity, and strains content moderation and trust at platform scale.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8277" y="1371600"/>
            <a:ext cx="3484778" cy="4983480"/>
          </a:xfrm>
          <a:prstGeom prst="roundRect">
            <a:avLst>
              <a:gd name="adj" fmla="val 2624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432597" y="1691640"/>
            <a:ext cx="594360" cy="594360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C:\Users\antoj\AppData\Local\Temp\claude\a--AIML-Course-Project-1\3eced48b-7c27-4c62-addc-2088314a7093\scratchpad\pptx_build\icons\hum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5243" y="183428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2597" y="24231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32597" y="2880360"/>
            <a:ext cx="293613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educators, platform moderators (Reddit, Quora, forums), journalists &amp; publishers, and employers or readers judging whether written work is genuine.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32204"/>
            <a:ext cx="475488" cy="47548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6322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389888"/>
            <a:ext cx="7205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Clean, Balanced Dataset
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raw, nested HC3 corpus into a tidy, answer-level dataset balanced 50/50 between Human and ChatGPT.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7863840" cy="0"/>
          </a:xfrm>
          <a:prstGeom prst="line">
            <a:avLst/>
          </a:prstGeom>
          <a:noFill/>
          <a:ln w="12700">
            <a:solidFill>
              <a:srgbClr val="E3E8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2628900"/>
            <a:ext cx="475488" cy="475488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6289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386584"/>
            <a:ext cx="7205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Interpretable Features
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linguistic features — word count, sentence structure, first-person usage, question marks — for every answer.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7863840" cy="0"/>
          </a:xfrm>
          <a:prstGeom prst="line">
            <a:avLst/>
          </a:prstGeom>
          <a:noFill/>
          <a:ln w="12700">
            <a:solidFill>
              <a:srgbClr val="E3E8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3625596"/>
            <a:ext cx="475488" cy="47548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36255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383280"/>
            <a:ext cx="7205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Stylistic Differences
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visualize how human and ChatGPT writing styles differ, overall and across content sources.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7863840" cy="0"/>
          </a:xfrm>
          <a:prstGeom prst="line">
            <a:avLst/>
          </a:prstGeom>
          <a:noFill/>
          <a:ln w="12700">
            <a:solidFill>
              <a:srgbClr val="E3E8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" y="4622292"/>
            <a:ext cx="475488" cy="475488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6222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379976"/>
            <a:ext cx="7205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Strongest Signals
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features correlate most with the authorship label to prioritize for future modeling.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358384"/>
            <a:ext cx="7863840" cy="0"/>
          </a:xfrm>
          <a:prstGeom prst="line">
            <a:avLst/>
          </a:prstGeom>
          <a:noFill/>
          <a:ln w="12700">
            <a:solidFill>
              <a:srgbClr val="E3E8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5618988"/>
            <a:ext cx="475488" cy="47548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48640" y="56189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376672"/>
            <a:ext cx="7205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 a Reproducible Foundation
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cleaned CSV and analysis pipeline ready to support a future AI-content classifier.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052560" y="1371600"/>
            <a:ext cx="2606040" cy="4983480"/>
          </a:xfrm>
          <a:prstGeom prst="roundRect">
            <a:avLst>
              <a:gd name="adj" fmla="val 3509"/>
            </a:avLst>
          </a:prstGeom>
          <a:solidFill>
            <a:srgbClr val="2A2F63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852660" y="2194560"/>
            <a:ext cx="1005840" cy="100584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C:\Users\antoj\AppData\Local\Temp\claude\a--AIML-Course-Project-1\3eced48b-7c27-4c62-addc-2088314a7093\scratchpad\pptx_build\icons\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062" y="2435962"/>
            <a:ext cx="523037" cy="52303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23544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Objectives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This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Analysis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ntoj\AppData\Local\Temp\claude\a--AIML-Course-Project-1\3eced48b-7c27-4c62-addc-2088314a7093\scratchpad\pptx_build\icons\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14637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344168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0195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jumping straight to a black-box classifier, this project first uses descriptive and exploratory Python analysis to surface measurable, human-interpretable stylistic signals — producing a clean dataset and EDA report that can ground a future AI-content classifier (e.g. a TF-IDF + Logistic Regression baseline).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3505200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66928" y="2834640"/>
            <a:ext cx="3468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83464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</a:t>
            </a:r>
            <a:r>
              <a:rPr lang="en-US" sz="11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reshaping nested JSON &amp; grouping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28160" y="2834640"/>
            <a:ext cx="3505200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4346448" y="2834640"/>
            <a:ext cx="3468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465320" y="283464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</a:t>
            </a:r>
            <a:r>
              <a:rPr lang="en-US" sz="11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 &amp; aggregation for chart data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07680" y="2834640"/>
            <a:ext cx="3505200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8125968" y="2834640"/>
            <a:ext cx="3468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44840" y="283464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</a:t>
            </a:r>
            <a:r>
              <a:rPr lang="en-US" sz="11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trend &amp; correlation visuals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C:\Users\antoj\AppData\Local\Temp\claude\a--AIML-Course-Project-1\3eced48b-7c27-4c62-addc-2088314a7093\scratchpad\pptx_build\icons\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704052"/>
            <a:ext cx="199705" cy="199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78992" y="3584448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Analysis Questions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8640" y="4160520"/>
            <a:ext cx="5394960" cy="609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 txBox="1"/>
          <p:nvPr/>
        </p:nvSpPr>
        <p:spPr>
          <a:xfrm>
            <a:off x="713232" y="4233672"/>
            <a:ext cx="548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261872" y="4215384"/>
            <a:ext cx="45262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answer length (word count) differ between Human and ChatGPT answers?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217920" y="4160520"/>
            <a:ext cx="5394960" cy="609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 txBox="1"/>
          <p:nvPr/>
        </p:nvSpPr>
        <p:spPr>
          <a:xfrm>
            <a:off x="6382512" y="4233672"/>
            <a:ext cx="548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931152" y="4215384"/>
            <a:ext cx="45262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Human and ChatGPT writing styles differ in sentence structure and sentence length?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48640" y="4953000"/>
            <a:ext cx="5394960" cy="609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 txBox="1"/>
          <p:nvPr/>
        </p:nvSpPr>
        <p:spPr>
          <a:xfrm>
            <a:off x="713232" y="5026152"/>
            <a:ext cx="548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261872" y="5007864"/>
            <a:ext cx="45262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Human vs ChatGPT answers use first-person language and embedded questions?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217920" y="4953000"/>
            <a:ext cx="5394960" cy="609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 txBox="1"/>
          <p:nvPr/>
        </p:nvSpPr>
        <p:spPr>
          <a:xfrm>
            <a:off x="6382512" y="5026152"/>
            <a:ext cx="548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931152" y="5007864"/>
            <a:ext cx="45262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data distributed across content sources — Reddit ELI5, finance, medicine, open QA, Wikipedia?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48640" y="5745480"/>
            <a:ext cx="5394960" cy="609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 txBox="1"/>
          <p:nvPr/>
        </p:nvSpPr>
        <p:spPr>
          <a:xfrm>
            <a:off x="713232" y="5818632"/>
            <a:ext cx="548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261872" y="5800344"/>
            <a:ext cx="45262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correlate most strongly with the authorship label?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217920" y="5745480"/>
            <a:ext cx="5394960" cy="609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 txBox="1"/>
          <p:nvPr/>
        </p:nvSpPr>
        <p:spPr>
          <a:xfrm>
            <a:off x="6382512" y="5818632"/>
            <a:ext cx="548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931152" y="5800344"/>
            <a:ext cx="45262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and balancing, is the dataset large and clean enough for future model training?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7210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508760"/>
            <a:ext cx="4823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2880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24,322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50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42132" y="1828800"/>
            <a:ext cx="2363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42132" y="2450592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61488"/>
            <a:ext cx="4823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human_answers, chatgpt_answers, index,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0780" y="1371600"/>
            <a:ext cx="537210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515100" y="1508760"/>
            <a:ext cx="4823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/ Final Dataset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182880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52,346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2450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034272" y="1828800"/>
            <a:ext cx="2363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34272" y="2450592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2761488"/>
            <a:ext cx="4823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label, source, question  +  5 engineered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2960" y="3474720"/>
            <a:ext cx="332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
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HC3 — Human ChatGPT Comparison Corpus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11040" y="3474720"/>
            <a:ext cx="332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
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Hello-SimpleAI/HC3 (“all” subset)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99120" y="3474720"/>
            <a:ext cx="332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
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44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raw row pairs a question with one or more human answers and one or more ChatGPT (GPT-3.5-era) answers, drawn from five sources: Reddit ELI5, finance, medicine, open QA and Wikipedia CS/AI. The data was restructured to one answer per row for analysis.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Features / Columns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13832"/>
            <a:ext cx="651053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66928" y="5513832"/>
            <a:ext cx="614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64285" y="5513832"/>
            <a:ext cx="2225650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382573" y="5513832"/>
            <a:ext cx="2189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(0=Human / 1=ChatGPT)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54526" y="5513832"/>
            <a:ext cx="651053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3772814" y="5513832"/>
            <a:ext cx="614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0171" y="5513832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588459" y="5513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85739" y="5513832"/>
            <a:ext cx="1250899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704027" y="5513832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sentence_count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01230" y="5513832"/>
            <a:ext cx="1400861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119518" y="5513832"/>
            <a:ext cx="13642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avg_sentence_len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666683" y="5513832"/>
            <a:ext cx="1100938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8684971" y="5513832"/>
            <a:ext cx="106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first_person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32213" y="5513832"/>
            <a:ext cx="1250899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9950501" y="5513832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question_marks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HC3 dataset downloaded from Hugging Face (Hello-SimpleAI/HC3, “all” subset) as a CSV file.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ELI5, finance, medicine, open QA and Wikipedia CS/AI; ChatGPT answers generated by a GPT-3.5-era model.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 </a:t>
            </a: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/ answers / source are text (object); the unused index column is float64.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column: 21,801 of 24,322 rows null (≈87%) — dropped entirely.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 </a:t>
            </a:r>
            <a:r>
              <a:rPr lang="en-US" sz="12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 exact duplicate rows detected and removed.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5715000"/>
            <a:ext cx="1248156" cy="868680"/>
          </a:xfrm>
          <a:prstGeom prst="roundRect">
            <a:avLst>
              <a:gd name="adj" fmla="val 10526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5788152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24,322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24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1388" y="5715000"/>
            <a:ext cx="1248156" cy="868680"/>
          </a:xfrm>
          <a:prstGeom prst="roundRect">
            <a:avLst>
              <a:gd name="adj" fmla="val 10526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961388" y="5788152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961388" y="6263640"/>
            <a:ext cx="124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4136" y="5715000"/>
            <a:ext cx="1248156" cy="868680"/>
          </a:xfrm>
          <a:prstGeom prst="roundRect">
            <a:avLst>
              <a:gd name="adj" fmla="val 10526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374136" y="5788152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6263640"/>
            <a:ext cx="124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86884" y="5715000"/>
            <a:ext cx="1248156" cy="868680"/>
          </a:xfrm>
          <a:prstGeom prst="roundRect">
            <a:avLst>
              <a:gd name="adj" fmla="val 10526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786884" y="5788152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509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786884" y="6263640"/>
            <a:ext cx="124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5257800" cy="4983480"/>
          </a:xfrm>
          <a:prstGeom prst="roundRect">
            <a:avLst>
              <a:gd name="adj" fmla="val 1835"/>
            </a:avLst>
          </a:prstGeom>
          <a:solidFill>
            <a:srgbClr val="14173A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29400" y="1572768"/>
            <a:ext cx="365760" cy="36576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C:\Users\antoj\AppData\Local\Temp\claude\a--AIML-Course-Project-1\3eced48b-7c27-4c62-addc-2088314a7093\scratchpad\pptx_build\icons\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655064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132320" y="1572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— Initial Understanding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2084832"/>
            <a:ext cx="4617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df.info()
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24322 entries
question           24322  object
human_answers      24322  object
chatgpt_answers    24322  object
index               2521  float64
source             24322  object
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df.duplicated().sum()
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509
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df["source"].value_counts()
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reddit_eli5    16603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        3933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        1248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open_qa         1187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wiki_csai        842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760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index column (87% null, unused identifier).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509 duplicate rows, then duplicate answer text later in the pipeline.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/ types: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JSON-decoded human_answers / chatgpt_answers into individual answer rows.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values: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spacing artifacts ("do n't" → "don't") and stripped the giveaway phrase "As an AI language model".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null/blank answers and answers under 20 words.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word_count, sentence_count, avg_sentence_len, first_person, question_marks.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Transformation:  </a:t>
            </a: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nested lists to one answer per row, then balanced Human/ChatGPT via downsampling (random_state=42).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932688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6928" y="52578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24,322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55648" y="5257800"/>
            <a:ext cx="932688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773936" y="52578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23,813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88336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62656" y="5257800"/>
            <a:ext cx="932688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980944" y="52578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83,400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9664" y="5257800"/>
            <a:ext cx="932688" cy="50292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187952" y="52578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75,191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02352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76672" y="5257800"/>
            <a:ext cx="932688" cy="50292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394960" y="52578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52,346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through the cleaning pipeline (raw → final balanced dataset)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371600"/>
            <a:ext cx="4983480" cy="4983480"/>
          </a:xfrm>
          <a:prstGeom prst="roundRect">
            <a:avLst>
              <a:gd name="adj" fmla="val 1835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949440" y="1554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 Output — Class Balance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4602645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Down-sampling the majority Human class to match ChatGPT (26,173 each) produces a perfectly balanced 52,346-row dataset.</a:t>
            </a:r>
            <a:endParaRPr lang="en-US" sz="11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9CE527-D659-BD7E-791A-AAFEF4E18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679" y="2130551"/>
            <a:ext cx="4728754" cy="22879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66928" y="1371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9344" y="137160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627632" y="1371600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9464" y="13716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587752" y="13716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347472" cy="347472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C:\Users\antoj\AppData\Local\Temp\claude\a--AIML-Course-Project-1\3eced48b-7c27-4c62-addc-2088314a7093\scratchpad\pptx_build\icons\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2003633"/>
            <a:ext cx="180685" cy="18068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42416" y="1892808"/>
            <a:ext cx="5449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Analysis Performed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37744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Word-count distribution &amp; descriptive statistics (mean, median, std) grouped by label.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Writing-style feature means by label: sentence count, avg. sentence length, first-person use, question marks.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breakdown of answer volume (Reddit ELI5, finance, medicine, open QA, wiki_csai).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between all engineered features and the authorship label.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777240" y="45079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134.0 / 173.1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4434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word count (Human / ChatGPT)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34924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777240" y="5422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163.7 / 61.6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5349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 of length (Human / ChatGPT)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12280" y="1371600"/>
            <a:ext cx="4846320" cy="49834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3E8F7"/>
            </a:solidFill>
            <a:prstDash val="solid"/>
          </a:ln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708660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 Output — Sentence Length</a:t>
            </a:r>
            <a:endParaRPr lang="en-US" sz="1350" dirty="0"/>
          </a:p>
        </p:txBody>
      </p:sp>
      <p:pic>
        <p:nvPicPr>
          <p:cNvPr id="23" name="Image 1" descr="A:\AIML Course\Project-1\Data-Analysis-Python-Project\Visualizations\notebook_imgs\cell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965960"/>
            <a:ext cx="4023360" cy="310148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86600" y="5204609"/>
            <a:ext cx="4297680" cy="115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ChatGPT's sentence length is tightly clustered around ~19 words; human sentences vary far more widely, from very short to long run-ons.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0048" cy="2354580"/>
          </a:xfrm>
          <a:prstGeom prst="roundRect">
            <a:avLst>
              <a:gd name="adj" fmla="val 3883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Length Distribution</a:t>
            </a:r>
            <a:endParaRPr lang="en-US" sz="1250" dirty="0"/>
          </a:p>
        </p:txBody>
      </p:sp>
      <p:pic>
        <p:nvPicPr>
          <p:cNvPr id="7" name="Image 0" descr="A:\AIML Course\Project-1\Data-Analysis-Python-Project\Visualizations\distributi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018" y="1755648"/>
            <a:ext cx="1855291" cy="1440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250692"/>
            <a:ext cx="504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replies skew short with a long tail; ChatGPT forms a tight bell curve near 150–200 words — ChatGPT's length is templated, human length is free-form.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33008" y="1371600"/>
            <a:ext cx="5410048" cy="2354580"/>
          </a:xfrm>
          <a:prstGeom prst="roundRect">
            <a:avLst>
              <a:gd name="adj" fmla="val 3883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6415888" y="146304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per Source</a:t>
            </a:r>
            <a:endParaRPr lang="en-US" sz="1250" dirty="0"/>
          </a:p>
        </p:txBody>
      </p:sp>
      <p:pic>
        <p:nvPicPr>
          <p:cNvPr id="11" name="Image 1" descr="A:\AIML Course\Project-1\Data-Analysis-Python-Project\Visualizations\category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566" y="1755648"/>
            <a:ext cx="1732931" cy="1440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15888" y="3250692"/>
            <a:ext cx="504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ELI5 dominates the data and contributes far more Human than ChatGPT replies per question — overall stats skew toward informal Reddit style.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4000500"/>
            <a:ext cx="5410048" cy="2354580"/>
          </a:xfrm>
          <a:prstGeom prst="roundRect">
            <a:avLst>
              <a:gd name="adj" fmla="val 3883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731520" y="409194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Writing-Style Feature Comparison</a:t>
            </a:r>
            <a:endParaRPr lang="en-US" sz="1250" dirty="0"/>
          </a:p>
        </p:txBody>
      </p:sp>
      <p:pic>
        <p:nvPicPr>
          <p:cNvPr id="15" name="Image 2" descr="A:\AIML Course\Project-1\Data-Analysis-Python-Project\Visualizations\trend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7274" y="4384548"/>
            <a:ext cx="1672780" cy="1440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5879592"/>
            <a:ext cx="504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writes longer, more uniform sentences; Humans use far more first-person language and embedded questions — a conversational signature.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233008" y="4000500"/>
            <a:ext cx="5410048" cy="2354580"/>
          </a:xfrm>
          <a:prstGeom prst="roundRect">
            <a:avLst>
              <a:gd name="adj" fmla="val 3883"/>
            </a:avLst>
          </a:prstGeom>
          <a:solidFill>
            <a:srgbClr val="EEF1FB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6415888" y="409194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Heatmap</a:t>
            </a:r>
            <a:endParaRPr lang="en-US" sz="1250" dirty="0"/>
          </a:p>
        </p:txBody>
      </p:sp>
      <p:pic>
        <p:nvPicPr>
          <p:cNvPr id="19" name="Image 3" descr="A:\AIML Course\Project-1\Data-Analysis-Python-Project\Visualizations\correlation_analys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645" y="4384548"/>
            <a:ext cx="1708772" cy="1440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15888" y="5879592"/>
            <a:ext cx="504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avg_sentence_len (+0.20) and first_person (−0.16) correlate most with label, but no single feature is strongly discriminative alone.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Detection Pattern  |  Mini Project — Data Analysis with Python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 vs 83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29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words: ChatGPT vs Human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520440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 vs 0.21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29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use: Human vs ChatGPT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355080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 vs 16.1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29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words/sentence: ChatGPT vs Human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189720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 vs 0.07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029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marks/answer: Human vs ChatGPT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C:\Users\antoj\AppData\Local\Temp\claude\a--AIML-Course-Project-1\3eced48b-7c27-4c62-addc-2088314a7093\scratchpad\pptx_build\icons\in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876702"/>
            <a:ext cx="190195" cy="19019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60704" y="2761488"/>
            <a:ext cx="48600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291840"/>
            <a:ext cx="53721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answers are longer and far more consistent in length (std. dev. 61.6 vs 163.7 words).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use first-person words (I, me, my) about 4.5× more often than ChatGPT.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embed more questions inside their answers than ChatGPT does.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writes longer, more uniform sentences than human answers.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strongly correlates with label alone (max |r| = 0.20) — a combination of features would be needed for reliable classification.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40780" y="2788920"/>
            <a:ext cx="365760" cy="365760"/>
          </a:xfrm>
          <a:prstGeom prst="ellipse">
            <a:avLst/>
          </a:prstGeom>
          <a:solidFill>
            <a:srgbClr val="2BC4C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C:\Users\antoj\AppData\Local\Temp\claude\a--AIML-Course-Project-1\3eced48b-7c27-4c62-addc-2088314a7093\scratchpad\pptx_build\icons\recomm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562" y="2876702"/>
            <a:ext cx="190195" cy="1901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752844" y="2761488"/>
            <a:ext cx="48600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240780" y="3291840"/>
            <a:ext cx="53721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TF-IDF + Logistic Regression baseline classifier on top of this cleaned, balanced dataset.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by question, not by answer, so answers to the same question never leak across the split.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separately per source (Reddit ELI5 vs finance/medicine/open QA/wiki_csai).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4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findings against newer-generation LLMs, since HC3's ChatGPT answers are GPT-3.5-era and the style gap may be narrowing.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5212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03120"/>
          </a:xfrm>
          <a:prstGeom prst="roundRect">
            <a:avLst>
              <a:gd name="adj" fmla="val 4348"/>
            </a:avLst>
          </a:prstGeom>
          <a:solidFill>
            <a:srgbClr val="2A2F63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C:\Users\antoj\AppData\Local\Temp\claude\a--AIML-Course-Project-1\3eced48b-7c27-4c62-addc-2088314a7093\scratchpad\pptx_build\icons\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1987906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5623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514600"/>
            <a:ext cx="489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raw, nested 24,322-row HC3 corpus was transformed into a clean, balanced, answer-level dataset of 52,346 rows (50/50 Human vs ChatGPT) with 5 engineered linguistic features.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33008" y="1600200"/>
            <a:ext cx="5410048" cy="2103120"/>
          </a:xfrm>
          <a:prstGeom prst="roundRect">
            <a:avLst>
              <a:gd name="adj" fmla="val 4348"/>
            </a:avLst>
          </a:prstGeom>
          <a:solidFill>
            <a:srgbClr val="2A2F63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89040" y="1856232"/>
            <a:ext cx="548640" cy="54864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C:\Users\antoj\AppData\Local\Temp\claude\a--AIML-Course-Project-1\3eced48b-7c27-4c62-addc-2088314a7093\scratchpad\pptx_build\icons\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198790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3128" y="185623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89040" y="2514600"/>
            <a:ext cx="489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measurable differences in length, sentence structure, first-person usage and question use separate Human from ChatGPT text — even without a trained classifier.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410048" cy="2103120"/>
          </a:xfrm>
          <a:prstGeom prst="roundRect">
            <a:avLst>
              <a:gd name="adj" fmla="val 4348"/>
            </a:avLst>
          </a:prstGeom>
          <a:solidFill>
            <a:srgbClr val="2A2F63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C:\Users\antoj\AppData\Local\Temp\claude\a--AIML-Course-Project-1\3eced48b-7c27-4c62-addc-2088314a7093\scratchpad\pptx_build\icons\ins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4365346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423367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Helps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" y="4892040"/>
            <a:ext cx="489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AI-content detection is tractable via interpretable text statistics, giving educators and platforms measurable signals rather than opaque “AI-detector” scores.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33008" y="3977640"/>
            <a:ext cx="5410048" cy="2103120"/>
          </a:xfrm>
          <a:prstGeom prst="roundRect">
            <a:avLst>
              <a:gd name="adj" fmla="val 4348"/>
            </a:avLst>
          </a:prstGeom>
          <a:solidFill>
            <a:srgbClr val="2A2F63"/>
          </a:solidFill>
          <a:ln/>
          <a:effectLst>
            <a:outerShdw blurRad="88900" dist="25400" dir="5400000" algn="bl" rotWithShape="0">
              <a:srgbClr val="0D0F29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489040" y="4233672"/>
            <a:ext cx="548640" cy="548640"/>
          </a:xfrm>
          <a:prstGeom prst="ellipse">
            <a:avLst/>
          </a:prstGeom>
          <a:solidFill>
            <a:srgbClr val="F2A93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C:\Users\antoj\AppData\Local\Temp\claude\a--AIML-Course-Project-1\3eced48b-7c27-4c62-addc-2088314a7093\scratchpad\pptx_build\icons\recomm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713" y="4365346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93128" y="423367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89040" y="4892040"/>
            <a:ext cx="489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TF-IDF + Logistic Regression baseline, question-level train/test splits, per-source evaluation, and re-testing against current-generation LLMs.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Forensics">
  <a:themeElements>
    <a:clrScheme name="AI Forensics">
      <a:dk1>
        <a:srgbClr val="14173A"/>
      </a:dk1>
      <a:lt1>
        <a:srgbClr val="FFFFFF"/>
      </a:lt1>
      <a:dk2>
        <a:srgbClr val="0D0F29"/>
      </a:dk2>
      <a:lt2>
        <a:srgbClr val="EEF1FB"/>
      </a:lt2>
      <a:accent1>
        <a:srgbClr val="3D5AFE"/>
      </a:accent1>
      <a:accent2>
        <a:srgbClr val="F2A93E"/>
      </a:accent2>
      <a:accent3>
        <a:srgbClr val="6B7A99"/>
      </a:accent3>
      <a:accent4>
        <a:srgbClr val="2BC4C9"/>
      </a:accent4>
      <a:accent5>
        <a:srgbClr val="E3E8F7"/>
      </a:accent5>
      <a:accent6>
        <a:srgbClr val="2A2F63"/>
      </a:accent6>
      <a:hlink>
        <a:srgbClr val="3D5AFE"/>
      </a:hlink>
      <a:folHlink>
        <a:srgbClr val="6B7A99"/>
      </a:folHlink>
    </a:clrScheme>
    <a:fontScheme name="AI Forens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1880</Words>
  <Application>Microsoft Office PowerPoint</Application>
  <PresentationFormat>Widescreen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AI Forensics</vt:lpstr>
      <vt:lpstr>PowerPoint Presentation</vt:lpstr>
      <vt:lpstr>Industry Overview</vt:lpstr>
      <vt:lpstr>Problem Statement</vt:lpstr>
      <vt:lpstr>Project Objectives</vt:lpstr>
      <vt:lpstr>Proposed Solution &amp; Analysis Questions</vt:lpstr>
      <vt:lpstr>Dataset Information</vt:lpstr>
      <vt:lpstr>Data Collection &amp; Understanding</vt:lpstr>
      <vt:lpstr>Data Cleaning &amp; Transformation</vt:lpstr>
      <vt:lpstr>Exploratory Data Analysis (EDA)</vt:lpstr>
      <vt:lpstr>Data Visualization</vt:lpstr>
      <vt:lpstr>Key Insights &amp; Recommendations</vt:lpstr>
      <vt:lpstr>Conclusion</vt:lpstr>
    </vt:vector>
  </TitlesOfParts>
  <Company>AIML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AI-Generated Content Detection Pattern</dc:title>
  <dc:subject>PptxGenJS Presentation</dc:subject>
  <dc:creator>Anto Jeberz J</dc:creator>
  <cp:lastModifiedBy>J Anto Jeberz</cp:lastModifiedBy>
  <cp:revision>2</cp:revision>
  <dcterms:created xsi:type="dcterms:W3CDTF">2026-10-07T11:51:33Z</dcterms:created>
  <dcterms:modified xsi:type="dcterms:W3CDTF">2026-10-07T12:00:22Z</dcterms:modified>
</cp:coreProperties>
</file>